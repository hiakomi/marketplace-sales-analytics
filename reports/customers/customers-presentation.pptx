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e9c499ca244cc1" /><Relationship Type="http://schemas.openxmlformats.org/officeDocument/2006/relationships/extended-properties" Target="/docProps/app.xml" Id="Ree2228e5bae640c2" /><Relationship Type="http://schemas.openxmlformats.org/officeDocument/2006/relationships/officeDocument" Target="/ppt/presentation.xml" Id="R96543009112c40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13be9fa7344171"/>
  </p:sldMasterIdLst>
  <p:notesMasterIdLst>
    <p:notesMasterId xmlns:r="http://schemas.openxmlformats.org/officeDocument/2006/relationships" r:id="Re1ac373632254d6c"/>
  </p:notesMasterIdLst>
  <p:sldIdLst>
    <p:sldId xmlns:r="http://schemas.openxmlformats.org/officeDocument/2006/relationships" id="256" r:id="R060214a09f634805"/>
    <p:sldId xmlns:r="http://schemas.openxmlformats.org/officeDocument/2006/relationships" id="257" r:id="Ra8d891b5cdf14360"/>
    <p:sldId xmlns:r="http://schemas.openxmlformats.org/officeDocument/2006/relationships" id="258" r:id="R7e4918095651480f"/>
    <p:sldId xmlns:r="http://schemas.openxmlformats.org/officeDocument/2006/relationships" id="259" r:id="Ra1b15d5829e7474a"/>
    <p:sldId xmlns:r="http://schemas.openxmlformats.org/officeDocument/2006/relationships" id="260" r:id="Re32022d90ed04415"/>
    <p:sldId xmlns:r="http://schemas.openxmlformats.org/officeDocument/2006/relationships" id="261" r:id="R99a3700d2ccf41fe"/>
    <p:sldId xmlns:r="http://schemas.openxmlformats.org/officeDocument/2006/relationships" id="262" r:id="Raa51a91b99514bae"/>
    <p:sldId xmlns:r="http://schemas.openxmlformats.org/officeDocument/2006/relationships" id="263" r:id="R7394ce3142d84fb8"/>
    <p:sldId xmlns:r="http://schemas.openxmlformats.org/officeDocument/2006/relationships" id="264" r:id="R3c528138f1ab4283"/>
    <p:sldId xmlns:r="http://schemas.openxmlformats.org/officeDocument/2006/relationships" id="265" r:id="Rb282769bb758430e"/>
    <p:sldId xmlns:r="http://schemas.openxmlformats.org/officeDocument/2006/relationships" id="266" r:id="R59286ad20fd34622"/>
    <p:sldId xmlns:r="http://schemas.openxmlformats.org/officeDocument/2006/relationships" id="267" r:id="Ra9bd6ec78abf4c93"/>
    <p:sldId xmlns:r="http://schemas.openxmlformats.org/officeDocument/2006/relationships" id="268" r:id="R7034a347c75a43af"/>
    <p:sldId xmlns:r="http://schemas.openxmlformats.org/officeDocument/2006/relationships" id="269" r:id="Re41b9637fd3d47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237a4be5124d6f" /><Relationship Type="http://schemas.openxmlformats.org/officeDocument/2006/relationships/slideMaster" Target="/ppt/slideMasters/slideMaster1.xml" Id="Rb613be9fa7344171" /><Relationship Type="http://schemas.openxmlformats.org/officeDocument/2006/relationships/notesMaster" Target="/ppt/notesMasters/notesMaster1.xml" Id="Re1ac373632254d6c" /><Relationship Type="http://schemas.openxmlformats.org/officeDocument/2006/relationships/presProps" Target="/ppt/presProps.xml" Id="R8cee115aaf274e50" /><Relationship Type="http://schemas.openxmlformats.org/officeDocument/2006/relationships/tableStyles" Target="/ppt/tableStyles.xml" Id="Rcb29b952f0884523" /><Relationship Type="http://schemas.openxmlformats.org/officeDocument/2006/relationships/slide" Target="/ppt/slides/slide1.xml" Id="R060214a09f634805" /><Relationship Type="http://schemas.openxmlformats.org/officeDocument/2006/relationships/slide" Target="/ppt/slides/slide2.xml" Id="Ra8d891b5cdf14360" /><Relationship Type="http://schemas.openxmlformats.org/officeDocument/2006/relationships/slide" Target="/ppt/slides/slide3.xml" Id="R7e4918095651480f" /><Relationship Type="http://schemas.openxmlformats.org/officeDocument/2006/relationships/slide" Target="/ppt/slides/slide4.xml" Id="Ra1b15d5829e7474a" /><Relationship Type="http://schemas.openxmlformats.org/officeDocument/2006/relationships/slide" Target="/ppt/slides/slide5.xml" Id="Re32022d90ed04415" /><Relationship Type="http://schemas.openxmlformats.org/officeDocument/2006/relationships/slide" Target="/ppt/slides/slide6.xml" Id="R99a3700d2ccf41fe" /><Relationship Type="http://schemas.openxmlformats.org/officeDocument/2006/relationships/slide" Target="/ppt/slides/slide7.xml" Id="Raa51a91b99514bae" /><Relationship Type="http://schemas.openxmlformats.org/officeDocument/2006/relationships/slide" Target="/ppt/slides/slide8.xml" Id="R7394ce3142d84fb8" /><Relationship Type="http://schemas.openxmlformats.org/officeDocument/2006/relationships/slide" Target="/ppt/slides/slide9.xml" Id="R3c528138f1ab4283" /><Relationship Type="http://schemas.openxmlformats.org/officeDocument/2006/relationships/slide" Target="/ppt/slides/slide10.xml" Id="Rb282769bb758430e" /><Relationship Type="http://schemas.openxmlformats.org/officeDocument/2006/relationships/slide" Target="/ppt/slides/slide11.xml" Id="R59286ad20fd34622" /><Relationship Type="http://schemas.openxmlformats.org/officeDocument/2006/relationships/slide" Target="/ppt/slides/slide12.xml" Id="Ra9bd6ec78abf4c93" /><Relationship Type="http://schemas.openxmlformats.org/officeDocument/2006/relationships/slide" Target="/ppt/slides/slide13.xml" Id="R7034a347c75a43af" /><Relationship Type="http://schemas.openxmlformats.org/officeDocument/2006/relationships/slide" Target="/ppt/slides/slide14.xml" Id="Re41b9637fd3d47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5ba73263f846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4dc4b5fd14d07" /><Relationship Type="http://schemas.openxmlformats.org/officeDocument/2006/relationships/notesMaster" Target="/ppt/notesMasters/notesMaster1.xml" Id="R844a0b37848c44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f90116c13b4c1b" /><Relationship Type="http://schemas.openxmlformats.org/officeDocument/2006/relationships/notesMaster" Target="/ppt/notesMasters/notesMaster1.xml" Id="R70b9f8c5e5a849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7674ef111347e8" /><Relationship Type="http://schemas.openxmlformats.org/officeDocument/2006/relationships/notesMaster" Target="/ppt/notesMasters/notesMaster1.xml" Id="R383ac22b99944e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c60474540c413b" /><Relationship Type="http://schemas.openxmlformats.org/officeDocument/2006/relationships/notesMaster" Target="/ppt/notesMasters/notesMaster1.xml" Id="R51bdc33cd146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e817afbaea493f" /><Relationship Type="http://schemas.openxmlformats.org/officeDocument/2006/relationships/notesMaster" Target="/ppt/notesMasters/notesMaster1.xml" Id="R16366883234349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3f6fd1ffc3480e" /><Relationship Type="http://schemas.openxmlformats.org/officeDocument/2006/relationships/notesMaster" Target="/ppt/notesMasters/notesMaster1.xml" Id="Rb7d4312c566849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855df416354ba6" /><Relationship Type="http://schemas.openxmlformats.org/officeDocument/2006/relationships/notesMaster" Target="/ppt/notesMasters/notesMaster1.xml" Id="R8e529fe8ab954f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7ce1ab65cc4feb" /><Relationship Type="http://schemas.openxmlformats.org/officeDocument/2006/relationships/notesMaster" Target="/ppt/notesMasters/notesMaster1.xml" Id="R745655b2297947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9dcca1934c48be" /><Relationship Type="http://schemas.openxmlformats.org/officeDocument/2006/relationships/notesMaster" Target="/ppt/notesMasters/notesMaster1.xml" Id="R8438dc7aef0548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97cc8e84014bec" /><Relationship Type="http://schemas.openxmlformats.org/officeDocument/2006/relationships/notesMaster" Target="/ppt/notesMasters/notesMaster1.xml" Id="R21093120959c45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0b543c041646ba" /><Relationship Type="http://schemas.openxmlformats.org/officeDocument/2006/relationships/notesMaster" Target="/ppt/notesMasters/notesMaster1.xml" Id="Refe9f49ae02247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cf769028fb437b" /><Relationship Type="http://schemas.openxmlformats.org/officeDocument/2006/relationships/notesMaster" Target="/ppt/notesMasters/notesMaster1.xml" Id="R467aaaed237042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19b39d4ba74dc9" /><Relationship Type="http://schemas.openxmlformats.org/officeDocument/2006/relationships/notesMaster" Target="/ppt/notesMasters/notesMaster1.xml" Id="R7728e15c659b42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2e4ac7088941c7" /><Relationship Type="http://schemas.openxmlformats.org/officeDocument/2006/relationships/notesMaster" Target="/ppt/notesMasters/notesMaster1.xml" Id="Rbfb2c71b135d40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клиентском исследовании я связываю сегментацию с жизненным циклом покупателя. Главный приоритет для тестирования — повторная активность. Наблюдаемый LTV здесь измеряет накопленную выручку на клиента за одинаковый горизонт, а не полную прибыль за всё время жизни.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Большая часть базы имеет только один или два активных дня, а возврат развивается на длинном горизонте. Эти показатели обосновывают приоритет повторной активности, но сами по себе не доказывают, что её улучшение будет дешевле привлечения. Затраты и размер эффекта нужно проверять.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Отсутствие order_id принципиально: я использую активные дни, а не количество заказов. История ограничена 2023 годом, поэтому январские клиенты могли покупать и раньше. Повторная покупка в этой работе означает покупку в другой календарный день.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годовой описательный срез, в котором смешаны разные сроки присутствия клиента. Поэтому низкую частоту нельзя напрямую называть оттоком. Для сравнения поведения я далее использую когорты и фиксированные окна наблюдения.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Лучшие клиенты занимают около 8,5 процента базы и дают около 20 процентов выручки. Спящие составляют около 19,1 процента и дают около 3,3 процента. Историческая ценность помогает выбирать аудиторию, но будущую отдачу от контакта нужно оценивать сравнением с контролем.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Одинаковое увеличение всех RFM-компонентов не требуется. У лучших клиентов важнее сохранить активность и не субсидировать естественные покупки. У новых целевой переход — второй активный день. Для перспективных я оцениваю регулярность за одинаковый срок. Низкоценным спящим не назначается дорогая кампания без доказанной окупаемости.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30 дней повторяют покупку 15,19 процента, за 60 — 28,35, за 90 — 39,30. Для каждого горизонта исключены клиенты без полного окна. Поэтому разницу процентов нельзя точно трактовать как прирост возвратов одной и той же фиксированной группы между окнами. Медиана 80 дней рассчитана только среди вернувшихся и не описывает всю базу.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Чтобы устранить смену состава когорт, на этом графике я использую одни и те же январскую–июньскую когорты. M1 составляет 15,53 процента, далее значения близки к этому уровню. Это не кривая непрерывного выживания: отсутствие активности в M1 не запрещает вернуться в M2. M1 также не равен 30-дневному repeat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Рост на 94,22 процента отражает накопление выручки в течение жизненного цикла, а не эффект уже внедрённого улучшения. Накопленный показатель естественно растёт при новых продажах. Почти неизменная выручка на активного клиента позволяет рассматривать вероятность возврата как важный рычаг для тестирования.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процентный пункт — это переход от 15,53 до 16,53 процента, а не относительный рост на один процент. Дополнительный активный клиент предположительно приносит столько же, сколько текущий активный. Если новые возвращённые клиенты окажутся дешевле, эффект будет ниже. В сценарии нет маржи, промозатрат и переноса покупок между периодами.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конкретный предлагаемый пилот, а не уже проверенный рецепт. Чтобы избежать отбора по будущему поведению, аудитория определяется на момент назначения. Тест и контроль имеют одинаковое окно после первой покупки. Основную метрику и минимально значимый эффект нужно зафиксировать заранее. Долгосрочные 60- и 90-дневные результаты помогут увидеть простое ускорение будущих покупок.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 очередь является предложением по внедрению. Пилот повторной покупки лучше начинать с механики без общего скидочного стимула. Реактивацию ценных неактивных нужно оценивать на всех участниках, а не только на вернувшихся. Так мы избегаем завышения эффекта из-за выбора удачных результатов.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Методика сохраняет одинаковые знаменатели там, где сравниваются горизонты. Полный сохранённый SQL приложен. Для RFM важно сохранять порядок CASE, иначе пересекающиеся условия изменят размер сегментов. При мониторинге переходов границы и дату среза следует версионировать.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Сила вывода в том, что он учитывает ограничения. Цифры описывают поведение, а тест должен проверить возможность его изменить. Если retention растёт, но затраты превышают дополнительную ценность, масштабировать механику не следует.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Глава_9_Анализ_клиентской_базы_RFM_retention_LTV(1).docx и Анализ клиентской базы.sql. Уточнение доли ценных неактивных: обсуждение проекта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163dad2e4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e016f34ca146e6" /><Relationship Type="http://schemas.openxmlformats.org/officeDocument/2006/relationships/slideLayout" Target="/ppt/slideLayouts/slideLayout1.xml" Id="Rc80632419da04c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632419da04c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3405d41054bf0" /><Relationship Type="http://schemas.openxmlformats.org/officeDocument/2006/relationships/notesSlide" Target="/ppt/notesSlides/notesSlide1.xml" Id="R6eb53aafd19841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4f4b455484815" /><Relationship Type="http://schemas.openxmlformats.org/officeDocument/2006/relationships/notesSlide" Target="/ppt/notesSlides/notesSlide2.xml" Id="Rb40fb7e93a9e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d63b3e70d4e34" /><Relationship Type="http://schemas.openxmlformats.org/officeDocument/2006/relationships/notesSlide" Target="/ppt/notesSlides/notesSlide3.xml" Id="Rce2d3f6c868a4c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e4be3d3654431" /><Relationship Type="http://schemas.openxmlformats.org/officeDocument/2006/relationships/chart" Target="/ppt/slides/charts/chart1.xml" Id="R28d3effeb82e41b4" /><Relationship Type="http://schemas.openxmlformats.org/officeDocument/2006/relationships/notesSlide" Target="/ppt/notesSlides/notesSlide4.xml" Id="Rd61e8283c2854a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6f4c280014995" /><Relationship Type="http://schemas.openxmlformats.org/officeDocument/2006/relationships/chart" Target="/ppt/slides/charts/chart2.xml" Id="R385f886d79df456a" /><Relationship Type="http://schemas.openxmlformats.org/officeDocument/2006/relationships/notesSlide" Target="/ppt/notesSlides/notesSlide5.xml" Id="Rbe6c05ba65ff4d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392748d914801" /><Relationship Type="http://schemas.openxmlformats.org/officeDocument/2006/relationships/notesSlide" Target="/ppt/notesSlides/notesSlide6.xml" Id="R1540522534f446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a33d78bc84409" /><Relationship Type="http://schemas.openxmlformats.org/officeDocument/2006/relationships/chart" Target="/ppt/slides/charts/chart3.xml" Id="R507a02cc85fc4284" /><Relationship Type="http://schemas.openxmlformats.org/officeDocument/2006/relationships/notesSlide" Target="/ppt/notesSlides/notesSlide7.xml" Id="R432207eb289b4c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149311b8e42e0" /><Relationship Type="http://schemas.openxmlformats.org/officeDocument/2006/relationships/chart" Target="/ppt/slides/charts/chart4.xml" Id="Ree0d3c34b6c3443a" /><Relationship Type="http://schemas.openxmlformats.org/officeDocument/2006/relationships/notesSlide" Target="/ppt/notesSlides/notesSlide8.xml" Id="Rc3331bffe3b648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ebbe3951a46a5" /><Relationship Type="http://schemas.openxmlformats.org/officeDocument/2006/relationships/chart" Target="/ppt/slides/charts/chart5.xml" Id="R111a02ae62204666" /><Relationship Type="http://schemas.openxmlformats.org/officeDocument/2006/relationships/notesSlide" Target="/ppt/notesSlides/notesSlide9.xml" Id="Re1961adbcc5042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1a93e5e814472" /><Relationship Type="http://schemas.openxmlformats.org/officeDocument/2006/relationships/notesSlide" Target="/ppt/notesSlides/notesSlide10.xml" Id="Rb7289f09c64243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35329bb754625" /><Relationship Type="http://schemas.openxmlformats.org/officeDocument/2006/relationships/notesSlide" Target="/ppt/notesSlides/notesSlide11.xml" Id="Reb9c29cf32eb48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2883f57fd439f" /><Relationship Type="http://schemas.openxmlformats.org/officeDocument/2006/relationships/notesSlide" Target="/ppt/notesSlides/notesSlide12.xml" Id="Re2a702ae51fd45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2f6fad4124ccc" /><Relationship Type="http://schemas.openxmlformats.org/officeDocument/2006/relationships/notesSlide" Target="/ppt/notesSlides/notesSlide13.xml" Id="Rad89984f0e164c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f5103fed1435c" /><Relationship Type="http://schemas.openxmlformats.org/officeDocument/2006/relationships/notesSlide" Target="/ppt/notesSlides/notesSlide14.xml" Id="R8a20a027ba06479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 клиентов</c:v>
          </c:tx>
          <c:spPr>
            <a:solidFill xmlns:a="http://schemas.openxmlformats.org/drawingml/2006/main">
              <a:srgbClr val="137C73"/>
            </a:solidFill>
          </c:spPr>
          <c:cat>
            <c:strRef>
              <c:f>'Chart Data'!$A$2:$A$6</c:f>
              <c:strCache>
                <c:ptCount val="5"/>
                <c:pt idx="0">
                  <c:v>1 день</c:v>
                </c:pt>
                <c:pt idx="1">
                  <c:v>2 дня</c:v>
                </c:pt>
                <c:pt idx="2">
                  <c:v>3 дня</c:v>
                </c:pt>
                <c:pt idx="3">
                  <c:v>4 дня</c:v>
                </c:pt>
                <c:pt idx="4">
                  <c:v>5+ дней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0.313721</c:v>
                </c:pt>
                <c:pt idx="1">
                  <c:v>0.31419</c:v>
                </c:pt>
                <c:pt idx="2">
                  <c:v>0.208778</c:v>
                </c:pt>
                <c:pt idx="3">
                  <c:v>0.103952</c:v>
                </c:pt>
                <c:pt idx="4">
                  <c:v>0.05936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D4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6E0E6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Доля клиентов</c:v>
          </c:tx>
          <c:spPr>
            <a:solidFill xmlns:a="http://schemas.openxmlformats.org/drawingml/2006/main">
              <a:srgbClr val="3768B0"/>
            </a:solidFill>
          </c:spPr>
          <c:cat>
            <c:strRef>
              <c:f>'Chart Data'!$A$2:$A$6</c:f>
              <c:strCache>
                <c:ptCount val="5"/>
                <c:pt idx="0">
                  <c:v>Перспективные</c:v>
                </c:pt>
                <c:pt idx="1">
                  <c:v>Лучшие</c:v>
                </c:pt>
                <c:pt idx="2">
                  <c:v>Ценные
неактивные</c:v>
                </c:pt>
                <c:pt idx="3">
                  <c:v>Лояльные</c:v>
                </c:pt>
                <c:pt idx="4">
                  <c:v>Спящие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0.204</c:v>
                </c:pt>
                <c:pt idx="1">
                  <c:v>0.085</c:v>
                </c:pt>
                <c:pt idx="2">
                  <c:v>0.1018</c:v>
                </c:pt>
                <c:pt idx="3">
                  <c:v>0.048</c:v>
                </c:pt>
                <c:pt idx="4">
                  <c:v>0.191</c:v>
                </c:pt>
              </c:numCache>
            </c:numRef>
          </c:val>
        </c:ser>
        <c:ser>
          <c:idx val="1"/>
          <c:order val="1"/>
          <c:tx>
            <c:v>Доля выручки</c:v>
          </c:tx>
          <c:spPr>
            <a:solidFill xmlns:a="http://schemas.openxmlformats.org/drawingml/2006/main">
              <a:srgbClr val="137C73"/>
            </a:solidFill>
          </c:spPr>
          <c:cat>
            <c:strRef>
              <c:f>'Chart Data'!$C$2:$C$6</c:f>
              <c:strCache>
                <c:ptCount val="5"/>
                <c:pt idx="0">
                  <c:v>Перспективные</c:v>
                </c:pt>
                <c:pt idx="1">
                  <c:v>Лучшие</c:v>
                </c:pt>
                <c:pt idx="2">
                  <c:v>Ценные
неактивные</c:v>
                </c:pt>
                <c:pt idx="3">
                  <c:v>Лояльные</c:v>
                </c:pt>
                <c:pt idx="4">
                  <c:v>Спящие</c:v>
                </c:pt>
              </c:strCache>
            </c:strRef>
          </c:cat>
          <c:val>
            <c:numRef>
              <c:f>'Chart Data'!$D$2:$D$6</c:f>
              <c:numCache>
                <c:formatCode>0.0%</c:formatCode>
                <c:ptCount val="5"/>
                <c:pt idx="0">
                  <c:v>0.241</c:v>
                </c:pt>
                <c:pt idx="1">
                  <c:v>0.2</c:v>
                </c:pt>
                <c:pt idx="2">
                  <c:v>0.1768</c:v>
                </c:pt>
                <c:pt idx="3">
                  <c:v>0.076</c:v>
                </c:pt>
                <c:pt idx="4">
                  <c:v>0.033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62D4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6E0E6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62D42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Repeat rate</c:v>
          </c:tx>
          <c:spPr>
            <a:solidFill xmlns:a="http://schemas.openxmlformats.org/drawingml/2006/main">
              <a:srgbClr val="137C73"/>
            </a:solidFill>
          </c:spPr>
          <c:cat>
            <c:strRef>
              <c:f>'Chart Data'!$A$2:$A$4</c:f>
              <c:strCache>
                <c:ptCount val="3"/>
                <c:pt idx="0">
                  <c:v>30 дней</c:v>
                </c:pt>
                <c:pt idx="1">
                  <c:v>60 дней</c:v>
                </c:pt>
                <c:pt idx="2">
                  <c:v>90 дней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0.1519</c:v>
                </c:pt>
                <c:pt idx="1">
                  <c:v>0.2835</c:v>
                </c:pt>
                <c:pt idx="2">
                  <c:v>0.393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D4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6E0E6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Retention</c:v>
          </c:tx>
          <c:spPr>
            <a:ln xmlns:a="http://schemas.openxmlformats.org/drawingml/2006/main" w="38100">
              <a:solidFill>
                <a:srgbClr val="137C73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37C73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'Chart Data'!$B$2:$B$7</c:f>
              <c:numCache>
                <c:formatCode>0.00%</c:formatCode>
                <c:ptCount val="6"/>
                <c:pt idx="0">
                  <c:v>0.1553</c:v>
                </c:pt>
                <c:pt idx="1">
                  <c:v>0.1577</c:v>
                </c:pt>
                <c:pt idx="2">
                  <c:v>0.1554</c:v>
                </c:pt>
                <c:pt idx="3">
                  <c:v>0.1596</c:v>
                </c:pt>
                <c:pt idx="4">
                  <c:v>0.1542</c:v>
                </c:pt>
                <c:pt idx="5">
                  <c:v>0.1551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D4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6E0E6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Накопленная выручка, млн ₽ / клиент</c:v>
          </c:tx>
          <c:spPr>
            <a:ln xmlns:a="http://schemas.openxmlformats.org/drawingml/2006/main" w="38100">
              <a:solidFill>
                <a:srgbClr val="137C73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137C73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</c:v>
                </c:pt>
                <c:pt idx="5">
                  <c:v>M5</c:v>
                </c:pt>
                <c:pt idx="6">
                  <c:v>M6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0.907835</c:v>
                </c:pt>
                <c:pt idx="1">
                  <c:v>1.049421</c:v>
                </c:pt>
                <c:pt idx="2">
                  <c:v>1.192685</c:v>
                </c:pt>
                <c:pt idx="3">
                  <c:v>1.333794</c:v>
                </c:pt>
                <c:pt idx="4">
                  <c:v>1.480516</c:v>
                </c:pt>
                <c:pt idx="5">
                  <c:v>1.620941</c:v>
                </c:pt>
                <c:pt idx="6">
                  <c:v>1.763238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D42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E0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6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26678"/>
                    </a:solidFill>
                    <a:latin typeface="DejaVu Sans"/>
                    <a:ea typeface="DejaVu Sans"/>
                    <a:cs typeface="DejaVu Sans"/>
                  </a:rPr>
                  <a:t>млн ₽ на клиента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26678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A085181-8478-4419-B09C-BC1FDD5C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Клиентская база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 рост LTV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3D5A719-FAED-4A5A-875A-394497EB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9D6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D6D9"/>
                </a:solidFill>
                <a:latin typeface="DejaVu Sans"/>
                <a:ea typeface="DejaVu Sans"/>
                <a:cs typeface="DejaVu Sans"/>
              </a:rPr>
              <a:t>Сегментация, повторные покупки и удержание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DDD1063-BDCC-4BF8-A888-72E17DC4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Артём Томай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Marketplace Sales Analytics</a:t>
            </a:r>
          </a:p>
        </p:txBody>
      </p:sp>
    </p:spTree>
    <p:extLst>
      <p:ext uri="{BB962C8B-B14F-4D97-AF65-F5344CB8AC3E}">
        <p14:creationId xmlns:p14="http://schemas.microsoft.com/office/powerpoint/2010/main" val="2068113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4F62737-AF6E-45E6-AD94-F940CA10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Повторная активность и приоритеты CRM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1292C2D-D22D-49FA-B401-68EF729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B5359EA-D476-4E1A-8A69-E8E77816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62,8%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B083E4-5434-45BF-BB74-55610A83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Редкая активность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33DE15-586A-4ADE-B0E1-201F3E24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Один или два дня покупки за год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073CCB4-FF2D-4CAE-9D45-072B5DF0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15,19%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7863907-A8F9-405F-BAAB-D4155000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Повтор за 30 дней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EE988C-8239-4C4C-9C79-A74E866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Среди клиентов с полным окном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5CE6AA1-84B6-407E-8A96-BFF7FB0B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80 дней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A1428A-FD73-4DA4-A5F1-CC2EFE1E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Медиана до второго дня покупки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75B437F-77C7-4D25-A8A4-9A33424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8600"/>
            <a:ext cx="3257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Только среди вернувшихся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C7C257-E9AD-4FB4-9600-E3F377E8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Приоритет тестирования: вторая покупка, удержание ценных клиентов и адресная реактивация.</a:t>
            </a:r>
          </a:p>
        </p:txBody>
      </p:sp>
    </p:spTree>
    <p:extLst>
      <p:ext uri="{BB962C8B-B14F-4D97-AF65-F5344CB8AC3E}">
        <p14:creationId xmlns:p14="http://schemas.microsoft.com/office/powerpoint/2010/main" val="1113534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13CDA0-8116-4A73-95DF-0C717BC7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Метрики и единица наблюдения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7F04568-DB9F-4BC5-9A7D-41031AC9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8001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Метрика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Определение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Frequency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Число уникальных дней покупки за 2023 год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Recency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Дни от последней покупки до 01.01.2024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Monetary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Сумма выручки клиента за период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Месячный retention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Активные в месяце M / исходная когорта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 LTV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Накопленная выручка / исходная когорта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66E4F8C-F284-4580-B44A-533A7BB0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2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864 460 клиентов. Первая покупка означает первую наблюдаемую. Нет order_id и себестоимости.</a:t>
            </a:r>
          </a:p>
        </p:txBody>
      </p:sp>
    </p:spTree>
    <p:extLst>
      <p:ext uri="{BB962C8B-B14F-4D97-AF65-F5344CB8AC3E}">
        <p14:creationId xmlns:p14="http://schemas.microsoft.com/office/powerpoint/2010/main" val="1124258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3829F1-59E2-499F-89ED-861E5A60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Около 63% клиентов покупали в 1–2 дня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BF37C04-50A0-4159-915D-E765EC17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109061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d3effeb82e41b4"/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D5F4218-BF16-4546-9DC3-F4B26B58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Для редких покупателей полезно тестировать возврат. Для частых клиентов важна сохранность привычки.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E091895-22BC-4832-8E68-AB3BDCD4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Среднее число активных дней: 2,31. Медиана: 2. Поздние клиенты имеют меньше времени наблюдения.</a:t>
            </a:r>
          </a:p>
        </p:txBody>
      </p:sp>
    </p:spTree>
    <p:extLst>
      <p:ext uri="{BB962C8B-B14F-4D97-AF65-F5344CB8AC3E}">
        <p14:creationId xmlns:p14="http://schemas.microsoft.com/office/powerpoint/2010/main" val="228639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EA4369-A569-4F3A-A413-7C1C8D33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Размер и ценность RFM-сегментов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CE5519C-AD9C-453E-BF0D-E4DE49F6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109061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5f886d79df456a"/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F01E37-152A-4710-BB1A-D2ECF31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10,18% ценных неактивных клиентов дали 17,68% исторической выручки. Их возврат заслуживает отдельного теста.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CFD016-1650-45DD-A5B8-286E2D90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Показаны пять ключевых сегментов. Кроме ценных неактивных, доли округлены до 0,1 п. п. Это не полное распределение базы.</a:t>
            </a:r>
          </a:p>
        </p:txBody>
      </p:sp>
    </p:spTree>
    <p:extLst>
      <p:ext uri="{BB962C8B-B14F-4D97-AF65-F5344CB8AC3E}">
        <p14:creationId xmlns:p14="http://schemas.microsoft.com/office/powerpoint/2010/main" val="1580364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1DC665-58F8-41F6-8C87-C1B9EC09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Стратегия зависит от состояния клиента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FF9BFA6-CD20-471F-8B2F-F65F896F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667125"/>
                <a:gridCol w="4143375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Сегмент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Действие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Основная метрика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Новые и редкие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Рекомендации после покупки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30d repeat rate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Перспективные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Персональный cross-sell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Активные дни за 90 дней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Лучшие и лояльные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Сервис и привилегии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Активность за 90 дней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Ценные неактивные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Персональная реактивация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Возврат за 30 дней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Низкоценные спящие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Дешёвые контакты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Чистый эффект на клиента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EA51F9D-9703-4EDF-BA94-FA91A8F0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2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Рост поведения оценивается вместе с выручкой на всех участников теста и стоимостью коммуникаций.</a:t>
            </a:r>
          </a:p>
        </p:txBody>
      </p:sp>
    </p:spTree>
    <p:extLst>
      <p:ext uri="{BB962C8B-B14F-4D97-AF65-F5344CB8AC3E}">
        <p14:creationId xmlns:p14="http://schemas.microsoft.com/office/powerpoint/2010/main" val="913706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9FD713-6488-448C-B21D-50F71A0E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Повторные покупки на горизонте 90 дней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0F4692A-BE1E-46DE-9001-C0933BCC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109061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7a02cc85fc4284"/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7A2C28E-6D23-4025-921F-E17EAA8B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CRM-гипотезы стоит проверять на горизонте до 90 дней с отдельной оценкой раннего и позднего возврата.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736628-975A-4544-AE4D-F80A0B78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У 30/60/90 дней разные допустимые выборки: 838 623 / 814 733 / 781 906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632041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DF5238-551E-4F23-ABA5-2A30A68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Месячная активность остаётся около 15–16%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9F51D3F-3D4E-4A5E-B68B-AB8A086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109061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0d3c34b6c3443a"/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31B397-B7B7-41D0-AFEE-4F5C2ED3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Retention месяца показывает активность именно в этом месяце. Клиент может пропустить месяц и вернуться позже.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0BBC4D-9F08-4735-B564-DC3FE6DE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Фиксированный набор: когорты января–июня, 630 187 клиентов. M0 = 100% по определению.</a:t>
            </a:r>
          </a:p>
        </p:txBody>
      </p:sp>
    </p:spTree>
    <p:extLst>
      <p:ext uri="{BB962C8B-B14F-4D97-AF65-F5344CB8AC3E}">
        <p14:creationId xmlns:p14="http://schemas.microsoft.com/office/powerpoint/2010/main" val="85710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17CB67-5881-4DE2-8E89-AF645A9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Накопленная выручка: +94,22% к M6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386CA9D-6C71-42EE-8680-ACB84802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47825"/>
          <a:ext xmlns:a="http://schemas.openxmlformats.org/drawingml/2006/main" cx="1090612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1a02ae62204666"/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CDA92BC-98AB-4214-B2A9-55F3CC70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Выручка на активного клиента в M1–M6 держится около 0,91–0,92 млн ₽. Возврат остаётся важной гипотезой роста.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A970D4-B45F-4751-8320-DDEEF814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Observed LTV: 907 835 ₽ в M0 и 1 763 238 ₽ в M6. Одни и те же 630 187 клиентов в знаменателе.</a:t>
            </a:r>
          </a:p>
        </p:txBody>
      </p:sp>
    </p:spTree>
    <p:extLst>
      <p:ext uri="{BB962C8B-B14F-4D97-AF65-F5344CB8AC3E}">
        <p14:creationId xmlns:p14="http://schemas.microsoft.com/office/powerpoint/2010/main" val="20758998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8F0C07-7994-40D3-9802-259EA150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Сценарий роста M1 retention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1951A63-8533-4957-A4F2-6F5B250E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286000"/>
                <a:gridCol w="2762250"/>
                <a:gridCol w="3714750"/>
              </a:tblGrid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Рост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Новый M1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Доп. активных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Доп. M1-выручка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+1 п. п.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16,53%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≈6 302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≈5,75 млрд ₽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+3 п. п.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18,53%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≈18 906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≈17,24 млрд ₽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+5 п. п.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20,53%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≈31 509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≈28,74 млрд ₽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A7B3C9-D6FF-4C8B-8F1C-776B395B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Сценарий показывает масштаб. Достижимость эффекта и его чистая экономика требуют эксперимента.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CB88F4-60A5-4699-B708-C9A161C3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052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Расчёт: 630 187 × прирост доли × 911 965 ₽. Затраты и возможная каннибализация не учтены.</a:t>
            </a:r>
          </a:p>
        </p:txBody>
      </p:sp>
    </p:spTree>
    <p:extLst>
      <p:ext uri="{BB962C8B-B14F-4D97-AF65-F5344CB8AC3E}">
        <p14:creationId xmlns:p14="http://schemas.microsoft.com/office/powerpoint/2010/main" val="629808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72DAC32-0920-4CB8-AFA5-F82CDD6A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Дизайн теста второй покупки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F904120-B2D5-4265-8DC2-4FF85702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FBEBF4-5B67-4351-B6A1-F823150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Аудитория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A1377F-664E-48E8-809E-7467776D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2877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Клиенты после первого наблюдаемого дня покупки, без повторного дня к моменту назначения.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C8D7CB-7951-41AC-8CF0-DB93B232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Воздействие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D88591-219F-41E5-B4B5-AD25918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Контроль: обычная коммуникация. Тест: персональная подборка на 7-й день.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A87396-563D-495E-AC57-21309726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Оценка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2A3B45-8BF8-414B-AA12-76512DDA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472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Основная метрика: повтор в течение 30 дней от первого дня покупки. Рандомизация по клиенту.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7E4F68-C060-49E8-AF6B-4F770CA8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Экономика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85EDC0-0A80-4762-876F-113FEF6E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Выручка на всех назначенных клиентов, затраты на контакт, отписки. При промо также скидка и прибыль.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B3D23FF-0DF4-4647-856D-FE8F58F2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2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День 7 — предлагаемая гипотеза. MDE, длительность и выборка задаются до запуска. Анализ по назначенной группе.</a:t>
            </a:r>
          </a:p>
        </p:txBody>
      </p:sp>
    </p:spTree>
    <p:extLst>
      <p:ext uri="{BB962C8B-B14F-4D97-AF65-F5344CB8AC3E}">
        <p14:creationId xmlns:p14="http://schemas.microsoft.com/office/powerpoint/2010/main" val="7528529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C04C66-7FA5-4BA2-A229-7D81EFAF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Пилоты и критерии масштабирования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3B35AC6-D3BB-4844-B7E4-C1B27450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667125"/>
                <a:gridCol w="4143375"/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Очередь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Пилот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Критерий</a:t>
                      </a:r>
                    </a:p>
                  </a:txBody>
                  <a:tcPr marL="133350" marR="114300" marT="76200" marB="76200" anchor="ctr">
                    <a:solidFill>
                      <a:srgbClr val="162D4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Вторая покупка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без массовой скидки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Прирост repeat rate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приемлемая экономика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Ценные неактивные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 контрольной группой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Дополнительная выручка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чистый эффект на клиента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Удержание лучших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через сервис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Сохранение активности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 разумной стоимости</a:t>
                      </a:r>
                    </a:p>
                  </a:txBody>
                  <a:tcPr marL="133350" marR="114300" marT="76200" marB="762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После пилота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Ежемесячный контроль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RFM и когорт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Устойчивость эффекта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D4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 контроль потерь</a:t>
                      </a:r>
                    </a:p>
                  </a:txBody>
                  <a:tcPr marL="133350" marR="114300" marT="7620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EC5945-EB3D-4638-BF8C-877201E0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Масштабирование опирается на причинный прирост и затраты. Дорогая реактивация всей базы не обоснована.</a:t>
            </a:r>
          </a:p>
        </p:txBody>
      </p:sp>
    </p:spTree>
    <p:extLst>
      <p:ext uri="{BB962C8B-B14F-4D97-AF65-F5344CB8AC3E}">
        <p14:creationId xmlns:p14="http://schemas.microsoft.com/office/powerpoint/2010/main" val="170709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DC6B4A-7029-461E-A71C-20D025F9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Методика и воспроизводимость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7065D90-283A-4A88-84E5-723794ED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32CFA53-E013-4973-8F9B-AA3B08BA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RFM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6A6160-52DC-4691-9956-295A6B53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2877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R и M: эмпирические квинтили. F: 1, 2, 3, 4 и 5+ активных дней.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B7E567-0994-4199-A878-DA107A91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Repeat rate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599020-7F96-49BE-B8A0-4BBD2460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Только полные окна. Повторный день строго позже первого, не позднее дня D.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22B1CE-A255-465F-97D8-EDEBE95A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Когорты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6F49EEC-C442-446E-B8BF-29A43DD9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472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Месяц первой наблюдаемой покупки. Для M0–M6 состав январь–июнь фиксирован.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8E3FF0-47CB-409F-8401-E14BD772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SQL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81D70E-14D2-4343-9753-05CA35B7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02_clients_original.sql содержит метрики, сегментацию, когорты, LTV и сценарии.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9CD069-C1E9-4840-A97D-7DA7E20D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2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Денежные суммы соответствуют исходному учебному датасету. Перед бизнес-применением проверяются единицы и полнота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5358230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D455C7-8B3F-4677-832C-96737287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Условия интерпретации результата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E05C945-8AEE-49D3-A9E6-2CC47768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71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2667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0BBE7DC-FE86-49C1-9EDB-DF76A820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История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2035F1B-E21A-421D-8287-926AE03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2877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Первая наблюдаемая покупка может не совпадать с первой покупкой клиента в жизни.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58985D-F63C-4999-A8F8-9157D508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Цензурирование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BF3074-084B-4A56-A0B0-45BB31BF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Медиана 80 дней относится только к вернувшимся. Поздние клиенты наблюдались меньше.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FE1206-CF1B-4167-BE95-9D696B80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Накопленная выручка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422B69-69C1-4975-B0D1-278809C9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14725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Рост LTV во времени не означает рост прибыли или эффект CRM.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AFBAE2E-79E6-42FF-8532-08FD8312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Эксперимент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5A16081-69B7-44FF-B2DD-36E26845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57700"/>
            <a:ext cx="7762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2D42"/>
                </a:solidFill>
                <a:latin typeface="DejaVu Sans"/>
                <a:ea typeface="DejaVu Sans"/>
                <a:cs typeface="DejaVu Sans"/>
              </a:rPr>
              <a:t>Скидки могут субсидировать естественные покупки и переносить спрос между периодами.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CAF20B9-9FA9-4673-B67D-3B0302AE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Цель работы с базой: экономически оправданная повторная активность и удержание ценных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1994057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2026-09-26T19:33:56.6710000Z</dcterms:created>
  <dcterms:modified xsi:type="dcterms:W3CDTF">2026-09-26T19:33:56.6710000Z</dcterms:modified>
</coreProperties>
</file>