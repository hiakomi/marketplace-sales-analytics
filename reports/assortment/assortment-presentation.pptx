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a45b812a4341da" /><Relationship Type="http://schemas.openxmlformats.org/officeDocument/2006/relationships/extended-properties" Target="/docProps/app.xml" Id="R0ca2e48b271a4763" /><Relationship Type="http://schemas.openxmlformats.org/officeDocument/2006/relationships/officeDocument" Target="/ppt/presentation.xml" Id="R2fe5e39ff70446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9c4f83442d41ac"/>
  </p:sldMasterIdLst>
  <p:notesMasterIdLst>
    <p:notesMasterId xmlns:r="http://schemas.openxmlformats.org/officeDocument/2006/relationships" r:id="R9af74f52a2a0452b"/>
  </p:notesMasterIdLst>
  <p:sldIdLst>
    <p:sldId xmlns:r="http://schemas.openxmlformats.org/officeDocument/2006/relationships" id="256" r:id="R62eac0428c424dae"/>
    <p:sldId xmlns:r="http://schemas.openxmlformats.org/officeDocument/2006/relationships" id="257" r:id="R46faff87fcbc4874"/>
    <p:sldId xmlns:r="http://schemas.openxmlformats.org/officeDocument/2006/relationships" id="258" r:id="R7b70922db3e34116"/>
    <p:sldId xmlns:r="http://schemas.openxmlformats.org/officeDocument/2006/relationships" id="259" r:id="Rbda950b7fe3d4caf"/>
    <p:sldId xmlns:r="http://schemas.openxmlformats.org/officeDocument/2006/relationships" id="260" r:id="Rd768f0236d374d0e"/>
    <p:sldId xmlns:r="http://schemas.openxmlformats.org/officeDocument/2006/relationships" id="261" r:id="R09c0ee50a1c14cc9"/>
    <p:sldId xmlns:r="http://schemas.openxmlformats.org/officeDocument/2006/relationships" id="262" r:id="R06cbe966ba9d4fa0"/>
    <p:sldId xmlns:r="http://schemas.openxmlformats.org/officeDocument/2006/relationships" id="263" r:id="Read24455432b4081"/>
    <p:sldId xmlns:r="http://schemas.openxmlformats.org/officeDocument/2006/relationships" id="264" r:id="R6bd95de9b23540b3"/>
    <p:sldId xmlns:r="http://schemas.openxmlformats.org/officeDocument/2006/relationships" id="265" r:id="Rd0aae3a58d5c4b9b"/>
    <p:sldId xmlns:r="http://schemas.openxmlformats.org/officeDocument/2006/relationships" id="266" r:id="Raae8db33306e4782"/>
    <p:sldId xmlns:r="http://schemas.openxmlformats.org/officeDocument/2006/relationships" id="267" r:id="R6d44bfc3b72743a6"/>
    <p:sldId xmlns:r="http://schemas.openxmlformats.org/officeDocument/2006/relationships" id="268" r:id="Ra6820ef59bf24051"/>
    <p:sldId xmlns:r="http://schemas.openxmlformats.org/officeDocument/2006/relationships" id="269" r:id="R7ee193fdfb0349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5483afed3747a2" /><Relationship Type="http://schemas.openxmlformats.org/officeDocument/2006/relationships/slideMaster" Target="/ppt/slideMasters/slideMaster1.xml" Id="R659c4f83442d41ac" /><Relationship Type="http://schemas.openxmlformats.org/officeDocument/2006/relationships/notesMaster" Target="/ppt/notesMasters/notesMaster1.xml" Id="R9af74f52a2a0452b" /><Relationship Type="http://schemas.openxmlformats.org/officeDocument/2006/relationships/presProps" Target="/ppt/presProps.xml" Id="R00c53ffbfd144f44" /><Relationship Type="http://schemas.openxmlformats.org/officeDocument/2006/relationships/tableStyles" Target="/ppt/tableStyles.xml" Id="Rec8fb562f8bb4782" /><Relationship Type="http://schemas.openxmlformats.org/officeDocument/2006/relationships/slide" Target="/ppt/slides/slide1.xml" Id="R62eac0428c424dae" /><Relationship Type="http://schemas.openxmlformats.org/officeDocument/2006/relationships/slide" Target="/ppt/slides/slide2.xml" Id="R46faff87fcbc4874" /><Relationship Type="http://schemas.openxmlformats.org/officeDocument/2006/relationships/slide" Target="/ppt/slides/slide3.xml" Id="R7b70922db3e34116" /><Relationship Type="http://schemas.openxmlformats.org/officeDocument/2006/relationships/slide" Target="/ppt/slides/slide4.xml" Id="Rbda950b7fe3d4caf" /><Relationship Type="http://schemas.openxmlformats.org/officeDocument/2006/relationships/slide" Target="/ppt/slides/slide5.xml" Id="Rd768f0236d374d0e" /><Relationship Type="http://schemas.openxmlformats.org/officeDocument/2006/relationships/slide" Target="/ppt/slides/slide6.xml" Id="R09c0ee50a1c14cc9" /><Relationship Type="http://schemas.openxmlformats.org/officeDocument/2006/relationships/slide" Target="/ppt/slides/slide7.xml" Id="R06cbe966ba9d4fa0" /><Relationship Type="http://schemas.openxmlformats.org/officeDocument/2006/relationships/slide" Target="/ppt/slides/slide8.xml" Id="Read24455432b4081" /><Relationship Type="http://schemas.openxmlformats.org/officeDocument/2006/relationships/slide" Target="/ppt/slides/slide9.xml" Id="R6bd95de9b23540b3" /><Relationship Type="http://schemas.openxmlformats.org/officeDocument/2006/relationships/slide" Target="/ppt/slides/slide10.xml" Id="Rd0aae3a58d5c4b9b" /><Relationship Type="http://schemas.openxmlformats.org/officeDocument/2006/relationships/slide" Target="/ppt/slides/slide11.xml" Id="Raae8db33306e4782" /><Relationship Type="http://schemas.openxmlformats.org/officeDocument/2006/relationships/slide" Target="/ppt/slides/slide12.xml" Id="R6d44bfc3b72743a6" /><Relationship Type="http://schemas.openxmlformats.org/officeDocument/2006/relationships/slide" Target="/ppt/slides/slide13.xml" Id="Ra6820ef59bf24051" /><Relationship Type="http://schemas.openxmlformats.org/officeDocument/2006/relationships/slide" Target="/ppt/slides/slide14.xml" Id="R7ee193fdfb0349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d1a1ea00834b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279e30b8414076" /><Relationship Type="http://schemas.openxmlformats.org/officeDocument/2006/relationships/notesMaster" Target="/ppt/notesMasters/notesMaster1.xml" Id="Rd15a5f2daad446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bb5f305de54f00" /><Relationship Type="http://schemas.openxmlformats.org/officeDocument/2006/relationships/notesMaster" Target="/ppt/notesMasters/notesMaster1.xml" Id="Re9b8d320648046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a68f5a54d140e9" /><Relationship Type="http://schemas.openxmlformats.org/officeDocument/2006/relationships/notesMaster" Target="/ppt/notesMasters/notesMaster1.xml" Id="R9fa1ebfe55e740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b03c874add41f8" /><Relationship Type="http://schemas.openxmlformats.org/officeDocument/2006/relationships/notesMaster" Target="/ppt/notesMasters/notesMaster1.xml" Id="Rb43b9ba9242d48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98103c9cd04109" /><Relationship Type="http://schemas.openxmlformats.org/officeDocument/2006/relationships/notesMaster" Target="/ppt/notesMasters/notesMaster1.xml" Id="Rb95d6db472b545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2a60ca46844c9e" /><Relationship Type="http://schemas.openxmlformats.org/officeDocument/2006/relationships/notesMaster" Target="/ppt/notesMasters/notesMaster1.xml" Id="Rc12d4622836144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962867641544b0" /><Relationship Type="http://schemas.openxmlformats.org/officeDocument/2006/relationships/notesMaster" Target="/ppt/notesMasters/notesMaster1.xml" Id="R6fecd9be3df64f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74a3da982443c9" /><Relationship Type="http://schemas.openxmlformats.org/officeDocument/2006/relationships/notesMaster" Target="/ppt/notesMasters/notesMaster1.xml" Id="R525d6d0ca94b41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fcda1b642e4d4c" /><Relationship Type="http://schemas.openxmlformats.org/officeDocument/2006/relationships/notesMaster" Target="/ppt/notesMasters/notesMaster1.xml" Id="R4c50d84d6b7f42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2b540533894216" /><Relationship Type="http://schemas.openxmlformats.org/officeDocument/2006/relationships/notesMaster" Target="/ppt/notesMasters/notesMaster1.xml" Id="Rf96901862cbe4c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33ae23577b44b3" /><Relationship Type="http://schemas.openxmlformats.org/officeDocument/2006/relationships/notesMaster" Target="/ppt/notesMasters/notesMaster1.xml" Id="Rf7c1977629b141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f1449c39954394" /><Relationship Type="http://schemas.openxmlformats.org/officeDocument/2006/relationships/notesMaster" Target="/ppt/notesMasters/notesMaster1.xml" Id="R98349440a4c049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0c68321a3244fb" /><Relationship Type="http://schemas.openxmlformats.org/officeDocument/2006/relationships/notesMaster" Target="/ppt/notesMasters/notesMaster1.xml" Id="Rd42839d5413544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d5af2d7b3c4a3c" /><Relationship Type="http://schemas.openxmlformats.org/officeDocument/2006/relationships/notesMaster" Target="/ppt/notesMasters/notesMaster1.xml" Id="R0dd4a08e42af49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исследовании я оцениваю ассортимент по денежному вкладу, физическому спросу и устойчивости продаж. Результат работы — приоритеты управления товарами и конкретные гипотезы для проверки. Данные не содержат себестоимости и складских остатков, поэтому рекомендации по прибыли и запасам требуют дополнительных измерений.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Глава_10_Анализ_ассортимента_ABC_XYZ(1).docx, разделы 10.1–10.10; Глава_9_Анализ_клиентской_базы_RFM_retention_LTV(1).docx, разделы 9.1–9.24. Анализ продаж за 2023 год.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экономическая значимость сосредоточена в обеспечении продаж ядра. Ревизия 184 SKU — небольшой по текущей выручке пилот, но её эффект по затратам ещё нужно оценить. Я не предлагаю автоматически убрать класс 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Итоговые таблицы assortment_action и discount_action из обсуждения проекта, 26.09.2026. Базовая методика: Глава_10_Анализ_ассортимента_ABC_XYZ(1).docx. Для новых групп доступны агрегированные результаты, без исходных CASE-условий.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использую общую аналитическую выборку за 2023 год. Первичная проверка проекта не обнаружила критичных пропусков и дублей на проверенном объёме. Финансовую формулу проверяли отдельно. Отсутствие продаж в день не доказывает отсутствие товара на складе. Без order_id нельзя восстановить корзину или число заказов.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Глава_10_Анализ_ассортимента_ABC_XYZ(1).docx, разделы 10.1–10.10; Глава_9_Анализ_клиентской_базы_RFM_retention_LTV(1).docx, разделы 9.1–9.24. Анализ продаж за 2023 год.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Группа A включает 26 996 товаров, то есть более половины матрицы. Поэтому правило 80/20 не описывает этот ассортимент. Группа C занимает 22,99% SKU и даёт около 5% выручки, однако низкая денежная доля может объясняться ценой при высоком физическом спросе.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Глава_10_Анализ_ассортимента_ABC_XYZ(1).docx, разделы 10.1–10.10; Глава_9_Анализ_клиентской_базы_RFM_retention_LTV(1).docx, разделы 9.1–9.24. Анализ продаж за 2023 год.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ABC по объёму помогает не потерять массовые дешёвые товары. Третья буква — XYZ по коэффициенту вариации месячных продаж. Сетка включает все 12 месяцев, в том числе нулевые. Стандартные границы 10 и 25 процентов относили почти весь ассортимент к Z. Адаптированные границы 55 и 75 процентов позволяют сравнивать товары внутри набора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Глава_10_Анализ_ассортимента_ABC_XYZ(1).docx, разделы 10.1–10.10; Глава_9_Анализ_клиентской_базы_RFM_retention_LTV(1).docx, разделы 9.1–9.24. Анализ продаж за 2023 год.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Таблица показывает взаимоисключающие группы действий из финального обсуждения. Сумма количества товаров равна 50 тысячам. У 963 товаров предложена проверка потенциала роста, а не доказан дефицит. Пустые доли выручки не восстановлены предположениями. В приложении зафиксировано, что исходные CASE-правила нового группирования не входят в сохранённый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Итоговые таблицы assortment_action и discount_action из обсуждения проекта, 26.09.2026. Базовая методика: Глава_10_Анализ_ассортимента_ABC_XYZ(1).docx. Для новых групп доступны агрегированные результаты, без исходных CASE-условий.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Вместе две части ядра содержат 21 593 товара. Для относительно стабильной части предлагаю приоритизацию пополнения. Для волатильной части нужны более частый пересмотр прогноза и партии с учётом срока поставки. Точные страховые запасы нельзя определить без остатков, сроков поставки и стоимости хранения.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Итоговые таблицы assortment_action и discount_action из обсуждения проекта, 26.09.2026. Базовая методика: Глава_10_Анализ_ассортимента_ABC_XYZ(1).docx. Для новых групп доступны агрегированные результаты, без исходных CASE-условий.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Нельзя подменять группу действий полным ABC-классом: 7 275 товаров — подгруппа по финальным правилам, тогда как весь CA содержит 7 706 SKU. Для массовых товаров предлагаю тест цены после проверки маржи и роли товара. Для дорогих низкообъёмных позиций слабый физический объём сам по себе не является основанием для вывода.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Итоговые таблицы assortment_action и discount_action из обсуждения проекта, 26.09.2026. Базовая методика: Глава_10_Анализ_ассортимента_ABC_XYZ(1).docx. Для новых групп доступны агрегированные результаты, без исходных CASE-условий.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начинаю с 184 товаров, затем перехожу к 409. На уровне текущей выручки совокупная экспозиция невелика, но это не оценка чистого ущерба от удаления и не гарантия отсутствия влияния на клиентов. Нужно оценить перенос спроса к аналогам, связанные покупки и экономию затрат.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Итоговые таблицы assortment_action и discount_action из обсуждения проекта, 26.09.2026. Базовая методика: Глава_10_Анализ_ассортимента_ABC_XYZ(1).docx. Для новых групп доступны агрегированные результаты, без исходных CASE-условий.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83 процентов ассортимента нет выраженного сигнала в проведённой диагностике. Это не доказательство, что скидки не работают. 2 441 товар с высокой скидкой и 1 662 других кандидата дают вместе 4 103 SKU для отдельной проверки снижения скидки. Нельзя сразу отменять скидку всей группе.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Итоговые таблицы assortment_action и discount_action из обсуждения проекта, 26.09.2026. Базовая методика: Глава_10_Анализ_ассортимента_ABC_XYZ(1).docx. Для новых групп доступны агрегированные результаты, без исходных CASE-условий.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эксперимента заранее задаются единица рандомизации, одна основная метрика и ограничения. Если клиенты легко переключаются между товарами, случайное деление отдельных SKU создаёт переток. В таком случае подходят сопоставимые кластеры или рынки. Тест должен покрывать достаточный цикл продаж, а его длительность нельзя брать произвольно.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Глава_10_Анализ_ассортимента_ABC_XYZ(1).docx, разделы 10.1–10.10; Глава_9_Анализ_клиентской_базы_RFM_retention_LTV(1).docx, разделы 9.1–9.24. Анализ продаж за 2023 год.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подготовительном этапе нужно добавить экономику и экспозицию. Дальше можно параллельно проверять наличие ядра и изучать первую очередь ревизии. Изменение цен и скидок запускается только с измеримым контролем. Масштабирование зависит от результата, а не от того, стала ли отдельная метрика выше.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Глава_10_Анализ_ассортимента_ABC_XYZ(1).docx, разделы 10.1–10.10; Глава_9_Анализ_клиентской_базы_RFM_retention_LTV(1).docx, разделы 9.1–9.24. Анализ продаж за 2023 год.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Полный SQL лежит в приложении. В нём есть ABC, двойной ABC, XYZ, корреляции скидок и старый узкий список CCZ. Новые девять групп действий и четыре скидочные группы используются как агрегированные итоги обсуждения. Код исходного присвоения этих групп нужен для воспроизведения списков product_id.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Итоговые таблицы assortment_action и discount_action из обсуждения проекта, 26.09.2026. Базовая методика: Глава_10_Анализ_ассортимента_ABC_XYZ(1).docx. Для новых групп доступны агрегированные результаты, без исходных CASE-условий.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Исследование даёт практическую очередь действий. Оно не доказывает прибыльность каждой инициативы и не позволяет автоматически вывести товары. Следующий уровень точности обеспечат данные о себестоимости, остатках и корзине, после чего эксперимент покажет чистый эффект.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Глава_10_Анализ_ассортимента_ABC_XYZ(1).docx, разделы 10.1–10.10; Глава_9_Анализ_клиентской_базы_RFM_retention_LTV(1).docx, разделы 9.1–9.24. Анализ продаж за 2023 год.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6a861b95449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04c0549a604479" /><Relationship Type="http://schemas.openxmlformats.org/officeDocument/2006/relationships/slideLayout" Target="/ppt/slideLayouts/slideLayout1.xml" Id="Rb0a3a4a4ca5144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a3a4a4ca5144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02121d0974c12" /><Relationship Type="http://schemas.openxmlformats.org/officeDocument/2006/relationships/notesSlide" Target="/ppt/notesSlides/notesSlide1.xml" Id="R9a86fa47068749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2b87baf6443a2" /><Relationship Type="http://schemas.openxmlformats.org/officeDocument/2006/relationships/notesSlide" Target="/ppt/notesSlides/notesSlide2.xml" Id="R7b5e3e8496d24f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d7201cf96476e" /><Relationship Type="http://schemas.openxmlformats.org/officeDocument/2006/relationships/notesSlide" Target="/ppt/notesSlides/notesSlide3.xml" Id="R236bf1deaf1b48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dbc3a9a9c4515" /><Relationship Type="http://schemas.openxmlformats.org/officeDocument/2006/relationships/chart" Target="/ppt/slides/charts/chart1.xml" Id="R1d99b653dff14144" /><Relationship Type="http://schemas.openxmlformats.org/officeDocument/2006/relationships/notesSlide" Target="/ppt/notesSlides/notesSlide4.xml" Id="Rc2d69bcd19fb45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c97bc40214d24" /><Relationship Type="http://schemas.openxmlformats.org/officeDocument/2006/relationships/notesSlide" Target="/ppt/notesSlides/notesSlide5.xml" Id="R5a06b0a25a8e4e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22cc0e3c74c25" /><Relationship Type="http://schemas.openxmlformats.org/officeDocument/2006/relationships/notesSlide" Target="/ppt/notesSlides/notesSlide6.xml" Id="R0a8e814bcd7444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e666b2e06450d" /><Relationship Type="http://schemas.openxmlformats.org/officeDocument/2006/relationships/chart" Target="/ppt/slides/charts/chart2.xml" Id="R7a6300cc9321427c" /><Relationship Type="http://schemas.openxmlformats.org/officeDocument/2006/relationships/notesSlide" Target="/ppt/notesSlides/notesSlide7.xml" Id="Rf0bdbd83edb84a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517f6e7c14b2d" /><Relationship Type="http://schemas.openxmlformats.org/officeDocument/2006/relationships/notesSlide" Target="/ppt/notesSlides/notesSlide8.xml" Id="Reea6d70ea45749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28a50634040e7" /><Relationship Type="http://schemas.openxmlformats.org/officeDocument/2006/relationships/notesSlide" Target="/ppt/notesSlides/notesSlide9.xml" Id="Ra9b040cbe98846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d0a9e0b704374" /><Relationship Type="http://schemas.openxmlformats.org/officeDocument/2006/relationships/notesSlide" Target="/ppt/notesSlides/notesSlide10.xml" Id="R6344d2a6147f42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448f2cecd4f79" /><Relationship Type="http://schemas.openxmlformats.org/officeDocument/2006/relationships/notesSlide" Target="/ppt/notesSlides/notesSlide11.xml" Id="Ra45a78f5684547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0405856d44655" /><Relationship Type="http://schemas.openxmlformats.org/officeDocument/2006/relationships/notesSlide" Target="/ppt/notesSlides/notesSlide12.xml" Id="R625c32f5a5e640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bb7f86cfc4800" /><Relationship Type="http://schemas.openxmlformats.org/officeDocument/2006/relationships/notesSlide" Target="/ppt/notesSlides/notesSlide13.xml" Id="R44432e2cc4e749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b785569bb41be" /><Relationship Type="http://schemas.openxmlformats.org/officeDocument/2006/relationships/notesSlide" Target="/ppt/notesSlides/notesSlide14.xml" Id="R838b2a1334e046f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Доля SKU</c:v>
          </c:tx>
          <c:spPr>
            <a:solidFill xmlns:a="http://schemas.openxmlformats.org/drawingml/2006/main">
              <a:srgbClr val="3768B0"/>
            </a:solidFill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0.5399</c:v>
                </c:pt>
                <c:pt idx="1">
                  <c:v>0.2302</c:v>
                </c:pt>
                <c:pt idx="2">
                  <c:v>0.2299</c:v>
                </c:pt>
              </c:numCache>
            </c:numRef>
          </c:val>
        </c:ser>
        <c:ser>
          <c:idx val="1"/>
          <c:order val="1"/>
          <c:tx>
            <c:v>Доля выручки</c:v>
          </c:tx>
          <c:spPr>
            <a:solidFill xmlns:a="http://schemas.openxmlformats.org/drawingml/2006/main">
              <a:srgbClr val="137C73"/>
            </a:solidFill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0.8</c:v>
                </c:pt>
                <c:pt idx="1">
                  <c:v>0.15</c:v>
                </c:pt>
                <c:pt idx="2">
                  <c:v>0.05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62D42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6E0E6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2D42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Доля выручки</c:v>
          </c:tx>
          <c:spPr>
            <a:solidFill xmlns:a="http://schemas.openxmlformats.org/drawingml/2006/main">
              <a:srgbClr val="137C7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37C7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768B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6B6C3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Ядро AAX / AAY</c:v>
                </c:pt>
                <c:pt idx="1">
                  <c:v>Волатильное ядро AAZ</c:v>
                </c:pt>
                <c:pt idx="2">
                  <c:v>Остальные SKU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0.5726</c:v>
                </c:pt>
                <c:pt idx="1">
                  <c:v>0.0939</c:v>
                </c:pt>
                <c:pt idx="2">
                  <c:v>0.3335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62D42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6E0E6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D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1156685-CF13-4B02-931A-223F5B8C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Оптимизация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ассортиментной матрицы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CC9867D-E8D0-4960-9E88-C0ADD200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9D6D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9D6D9"/>
                </a:solidFill>
                <a:latin typeface="DejaVu Sans"/>
                <a:ea typeface="DejaVu Sans"/>
                <a:cs typeface="DejaVu Sans"/>
              </a:rPr>
              <a:t>Анализ продаж за 2023 год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0B6BEE4-7356-47ED-9B20-2C155DE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Артём Томай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Marketplace Sales Analytics</a:t>
            </a:r>
          </a:p>
        </p:txBody>
      </p:sp>
    </p:spTree>
    <p:extLst>
      <p:ext uri="{BB962C8B-B14F-4D97-AF65-F5344CB8AC3E}">
        <p14:creationId xmlns:p14="http://schemas.microsoft.com/office/powerpoint/2010/main" val="1698198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B81FD66-5E0B-46F2-9261-99C2E175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Приоритеты ассортиментной политики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C1EA9E7-168C-4A7E-9989-F54D5165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DE15DA6-DEB6-4615-A4B3-7CE84E2F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18 434 SKU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C437C7-B18F-44C8-9093-4273F83D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Поддержание наличия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7DA6D3-C6AA-4F1D-B7AB-73AD8D44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3257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Ядро формирует 57,26% выручки.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31C83B0-6BF1-41A1-A863-8A461E74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859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3 159 SKU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439E9C7-47C4-44ED-A0ED-C79163F0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0990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Контроль волатильного спроса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F55862-A2E9-4D7D-9F5F-524B0085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38600"/>
            <a:ext cx="3257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Значимые товары дают 9,39% выручки.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CE4F527-8379-49CF-9D9C-A864D56E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184 SKU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7112810-4B9E-4B13-83E8-AE2F27CD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Первая очередь ревизии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A77930-3E44-41EA-AD1A-242771B6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8600"/>
            <a:ext cx="3257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Доля выручки составляет 0,08%.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E8B4DDB-020D-49DF-9DE5-7C51C9BB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Главный приоритет: доступность ядра. Сокращение матрицы начинается с проверки роли конкретных SKU.</a:t>
            </a:r>
          </a:p>
        </p:txBody>
      </p:sp>
    </p:spTree>
    <p:extLst>
      <p:ext uri="{BB962C8B-B14F-4D97-AF65-F5344CB8AC3E}">
        <p14:creationId xmlns:p14="http://schemas.microsoft.com/office/powerpoint/2010/main" val="738383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B917EE0-3CE3-4DF4-862D-79B1A855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Данные и границы исследования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4A99368-B16C-4867-BBF0-ECC2C843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53A6A9C-AB70-4E88-B837-EE61EC24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Аналитическая база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49FC132-B661-4040-85B8-DFF14EDF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287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Что позволяют измерить данные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FCFAF7C-7422-4CD1-A98B-6693B34B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Продажи за 2023 год, 50 000 SKU.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2E02C8-9A9D-41BC-A397-57D719C6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Строка содержит товарную позицию продажи.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9FDDCD-CE98-44A1-B4F1-5E8F9FA9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Фильтр бизнес-анализа: quantity &gt; 0.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41B8A03-91B4-4FD2-843F-BCC4EC44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Выручка = (цена − скидка) × количество.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3A98AF0-FD41-4E07-ADF5-092791F2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Вклад в выручку и проданные единицы.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B44535-7C63-4DC7-94DB-313709C9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Уникальных покупателей и дни продаж.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1D00E79-6E1E-4761-BB42-8AABAEE8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Месячную вариативность спроса.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02D8814-0A41-4526-B977-56E4EA6A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Наблюдаемую связь скидок и продаж.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2FFCA2C-1D53-4429-9629-027C7044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52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Нет себестоимости, order_id, остатков и данных об экспозиции товара.</a:t>
            </a:r>
          </a:p>
        </p:txBody>
      </p:sp>
    </p:spTree>
    <p:extLst>
      <p:ext uri="{BB962C8B-B14F-4D97-AF65-F5344CB8AC3E}">
        <p14:creationId xmlns:p14="http://schemas.microsoft.com/office/powerpoint/2010/main" val="691336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CB486F-8069-4750-AE4C-6D220DB6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80% выручки дают 53,99% товаров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3987CA3-8A48-4D65-B44B-8FD59C22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19125" y="1647825"/>
          <a:ext xmlns:a="http://schemas.openxmlformats.org/drawingml/2006/main" cx="1090612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99b653dff14144"/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E6F1B36-3271-420A-B16E-07BAB3B2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Выручку формирует широкий слой ассортимента. Класс C требует проверки роли товара перед сокращением.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59B8B8-394D-4BDB-B739-46EDC31C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2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ABC по выручке: A = 26 996 SKU, B = 11 509, C = 11 495. Доли выручки округлены.</a:t>
            </a:r>
          </a:p>
        </p:txBody>
      </p:sp>
    </p:spTree>
    <p:extLst>
      <p:ext uri="{BB962C8B-B14F-4D97-AF65-F5344CB8AC3E}">
        <p14:creationId xmlns:p14="http://schemas.microsoft.com/office/powerpoint/2010/main" val="1897152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C342DCA-FEBF-4C07-BBBE-EC8A8F62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Двойной ABC и вариативность спроса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1724C09-59C2-4079-9FA1-643E9157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667125"/>
                <a:gridCol w="4143375"/>
              </a:tblGrid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Сочетание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Смысл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Действие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AA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Высокая выручка и объём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Приоритет наличия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Высокая выручка, низкий объём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Проверка цены и потенциала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Низкая выручка, высокий объём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Проверка роли и экономики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CC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Низкий вклад по двум осям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Проверка роли в матрице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258125A-EC26-4EF2-9770-9890B808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X означает относительную стабильность внутри этой базы. XYZ сам по себе не доказывает сезонность.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B5D627-86CC-49DD-8287-3C7E8B8E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2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Первая буква: выручка. Вторая: единицы. XYZ добавляет CV месячных продаж: X ≤ 55%, Y ≤ 75%, Z &gt; 75%.</a:t>
            </a:r>
          </a:p>
        </p:txBody>
      </p:sp>
    </p:spTree>
    <p:extLst>
      <p:ext uri="{BB962C8B-B14F-4D97-AF65-F5344CB8AC3E}">
        <p14:creationId xmlns:p14="http://schemas.microsoft.com/office/powerpoint/2010/main" val="1862296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E69F4BC-D67F-4B3B-92BC-7BB45A5C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Группы действий по 50 000 SKU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16E397C-ECEE-4D9E-B29B-810108EF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11049000" cy="4219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43625"/>
                <a:gridCol w="1476375"/>
                <a:gridCol w="1666875"/>
                <a:gridCol w="1762125"/>
              </a:tblGrid>
              <a:tr h="421958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Группа действий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SKU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Доля SKU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Выручка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</a:tr>
              <a:tr h="421958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Ядро ассортимента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18 434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36,87%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57,26%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421958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Поддерживать и наблюдать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17 657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35,31%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25,96%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421958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Волатильное ядро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3 159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6,32%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9,39%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421958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Массовые недорогие товары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7 275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14,55%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3,18%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421958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Высокая выручка при низком объёме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1 227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2,45%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2,79%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421958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Потенциал роста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963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1,93%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—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421958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Низкий приоритет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692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1,38%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—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421958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Ревизия ассортимента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409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0,82%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0,17%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421958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Приоритетная ревизия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184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0,37%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0,08%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3320DCF-EB0B-4512-9B37-FA72AB24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Доля выручки не приведена для двух групп. Все количества и доли SKU сохранены.</a:t>
            </a:r>
          </a:p>
        </p:txBody>
      </p:sp>
    </p:spTree>
    <p:extLst>
      <p:ext uri="{BB962C8B-B14F-4D97-AF65-F5344CB8AC3E}">
        <p14:creationId xmlns:p14="http://schemas.microsoft.com/office/powerpoint/2010/main" val="12758468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1C1A754-5177-40AB-BB03-D8930953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Ядро AA формирует 66,65% выручки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DCA0A66-C029-41F7-A7D5-54609366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19125" y="1647825"/>
          <a:ext xmlns:a="http://schemas.openxmlformats.org/drawingml/2006/main" cx="1090612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6300cc9321427c"/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0309779-F5FE-4E63-AE8B-A30574E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Для 18 434 SKU важна доступность. Для 3 159 волатильных SKU нужен отдельный режим пополнения.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3F8D1BB-61DE-425F-A458-E14D69F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2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Доли выручки: 57,26% и 9,39%. Остальной ассортимент: 33,35%, рассчитано по округлённым долям.</a:t>
            </a:r>
          </a:p>
        </p:txBody>
      </p:sp>
    </p:spTree>
    <p:extLst>
      <p:ext uri="{BB962C8B-B14F-4D97-AF65-F5344CB8AC3E}">
        <p14:creationId xmlns:p14="http://schemas.microsoft.com/office/powerpoint/2010/main" val="7588943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AFA42C-E26C-4E38-B87E-5923F40E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Массовые и дорогие товары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36599A4-C18E-46E7-A05A-9CDB3DED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667125"/>
                <a:gridCol w="4143375"/>
              </a:tblGrid>
              <a:tr h="88106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Группа действий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Факт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Предложение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7 275 массовых SKU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15,36% единиц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3,18% выручки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Проверить роль в спросе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экономику цены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1 227 дорогих SKU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2,79% выручки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Низкий объём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Проверить доступность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рекомендации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963 SKU с потенциалом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1,93% ассортимента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Проверить остатки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охват покупателей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E3EB869-DC86-4A1F-B758-7549763B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Рост выручки проверяется вместе с изменением валовой прибыли и продаж заменителей.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0323D5-FFE4-43C4-8930-1D93E41B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2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Группа 7 275 SKU относится к итоговым действиям. Полный класс CA двойного ABC содержит 7 706 SKU.</a:t>
            </a:r>
          </a:p>
        </p:txBody>
      </p:sp>
    </p:spTree>
    <p:extLst>
      <p:ext uri="{BB962C8B-B14F-4D97-AF65-F5344CB8AC3E}">
        <p14:creationId xmlns:p14="http://schemas.microsoft.com/office/powerpoint/2010/main" val="15968016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9A2151B-DC61-4446-BDC9-E9658D58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Первая очередь ревизии включает 184 SKU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B827538-17C9-4ABA-8FA6-83098F1D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1433E5F-63CA-40A0-BBD7-13E861B6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184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72DF84A-33C6-41CE-99A5-8BB8B807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Высокий приоритет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F78A361-26D7-4616-BFB6-C7F5567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3257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0,37% SKU и 0,08% выручки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5608928-C4F1-4D84-A21A-016D80D7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859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409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817DBF-6C7B-435D-8310-4A64738B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0990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Следующая очередь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088FC6-F739-4EDE-ADBA-F8349398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38600"/>
            <a:ext cx="3257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0,82% SKU и 0,17% выручки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BC87FFD-0D88-46FB-B236-EBEFDB70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593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D0604B1-3B2C-490A-A6FC-83080D6E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Общий объём ревизии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12DB5A-DD85-422D-BFBC-D9817EF0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8600"/>
            <a:ext cx="3257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1,19% SKU и около 0,25% выручки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B5323B2-7790-43CC-911E-A496C8F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Решение по SKU: сохранить, изменить условия, заменить аналогом, перевести под заказ или вывести.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C22C1FC-44A5-4245-A5CD-AC1F4F28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2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Сначала проверяются маржа, заменители, роль товара и условия поставки. Доли суммированы с округлением.</a:t>
            </a:r>
          </a:p>
        </p:txBody>
      </p:sp>
    </p:spTree>
    <p:extLst>
      <p:ext uri="{BB962C8B-B14F-4D97-AF65-F5344CB8AC3E}">
        <p14:creationId xmlns:p14="http://schemas.microsoft.com/office/powerpoint/2010/main" val="20325266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FB0AC21-7F7B-44D2-8D65-E892D761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Группы для проверки скидок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D2794E7-7666-476E-A446-32926B31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57875"/>
                <a:gridCol w="1333500"/>
                <a:gridCol w="1809750"/>
                <a:gridCol w="2047875"/>
              </a:tblGrid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Сигнал по скидке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SKU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Доля SKU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Доля выручки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Нет выраженного сигнала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41 498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83,00%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84,47%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Кандидат на промо-тест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4 399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8,80%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8,62%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Высокая скидка, слабый сигнал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2 441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4,88%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3,81%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Кандидат на снижение скидки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1 662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3,32%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3,10%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2A2CFB-A5E0-4D95-A6A5-7B112BCF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4 399 SKU подходят для проверки промо. Для 4 103 SKU рассматривается тест уменьшения скидки.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598334F-874B-4441-A79E-8B0A7E9D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2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Отсутствие выраженного сигнала не доказывает отсутствие эффекта. Причинный результат определяет эксперимент.</a:t>
            </a:r>
          </a:p>
        </p:txBody>
      </p:sp>
    </p:spTree>
    <p:extLst>
      <p:ext uri="{BB962C8B-B14F-4D97-AF65-F5344CB8AC3E}">
        <p14:creationId xmlns:p14="http://schemas.microsoft.com/office/powerpoint/2010/main" val="1483127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494DB05-39F9-4C16-9891-415B60A9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Пилоты связывают решения с экономикой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959694D-49DD-439B-8B42-977F9764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667125"/>
                <a:gridCol w="4143375"/>
              </a:tblGrid>
              <a:tr h="88106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Пилот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Изменение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Основная оценка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Наличие ядра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Приоритет пополнения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для сопоставимой части SKU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Доступность и валовая прибыль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после добавления остатков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Цена и промо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Изменение скидки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 тестовой группе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Прибыль на единицу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экспозиции, продажи категории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Ревизия 184 SKU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Проверка роли, затем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ограничение пополнения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Экономия затрат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потери спроса с учётом замен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6E0C935-DCD9-4368-B8CF-68571540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52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Для промо: сопоставимые кластеры, контроль перетока, полный цикл спроса. Размер выборки определяется мощностью.</a:t>
            </a:r>
          </a:p>
        </p:txBody>
      </p:sp>
    </p:spTree>
    <p:extLst>
      <p:ext uri="{BB962C8B-B14F-4D97-AF65-F5344CB8AC3E}">
        <p14:creationId xmlns:p14="http://schemas.microsoft.com/office/powerpoint/2010/main" val="14032857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85CB696-1843-41BD-91D1-60803EB9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План внедрения и контроль результата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FBECA43-FBCC-418E-B77E-3F8F0D7B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667125"/>
                <a:gridCol w="4143375"/>
              </a:tblGrid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Очередь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Ответственный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Результат этапа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Подготовка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Аналитик и финансы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Себестоимость, остатки,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проверка масштабов сумм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Первый пилот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Категорийный менеджер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Ревизия 184 SKU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проверка доступности ядра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Цены и скидки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Промо и аналитик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Дизайн теста на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сопоставимых группах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Масштабирование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Владелец категории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Решение по приросту прибыли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защитным метрикам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9C9B750-1DE6-4098-A40C-F8C8F34C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Приоритет решения определяется ожидаемым чистым эффектом и стоимостью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20519101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689DCF-E918-47E6-AB4C-016190A2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Методика расчётов и SQL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7979196-0F19-4DC3-A4D6-D56085F9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BC66537-ADFA-46B4-8E38-3AAD2A00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ABC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26B954C-E6E5-44AB-9E22-9FA7E40B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28775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Накопленная доля выручки и количества: границы 80% и 95%.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58B48A-EB4D-4210-9F5F-157322E8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XYZ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5A905C-D33C-41F3-83B5-06C555CE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CV = стандартное отклонение / среднее за 12 месяцев, включая нули.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50CA592-F6C4-4551-B835-261E16AD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Дополнительные признаки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7FA3A3F-8BF4-43DD-8CE5-65E2FBC3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14725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Уникальные покупатели, дни продаж, доля скидки, тренд по месяцам.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9AC12FE-4778-429A-9140-DAA1C80B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Приложение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E2BDA98-124A-4938-B066-3E0D7D65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5770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01_assortment_original.sql содержит полный сохранённый анализ.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A8AE7BF-BC37-44BF-90A3-8C5E35D0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52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Точные CASE-правила новых assortment_action и discount_action в сохранённом коде отсутствуют. Их итоги включены как отдельные сводные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243997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A497993-3F4A-4E17-802D-D53489D8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Ограничения и условия принятия решений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328A4D6-CC9D-453B-AFF3-4DB7C05B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D06599C-BCA1-4BB0-966F-262953FF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Маржинальность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2CE9DB4-A42D-4D9F-9870-E91085AC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28775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Без себестоимости и операционных затрат эффект по прибыли не рассчитан.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4788DC5-34E3-4A32-B3F5-54E05438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Наличие и оборачиваемость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4C1362B-4A3D-4FC1-A7A1-C3656966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Дни с продажами не измеряют доступность. Нужны складские остатки.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F8D0FB3-2C7C-4D0E-B758-AAFD7FDF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Спрос и скидки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E90BE3-28AE-4517-BEE3-D85719B7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14725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Наблюдаемые связи могут зависеть от категории, цены и условий промо.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AADCE08-5429-42AD-A096-52C9A7C3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Вывод товара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7951B1E-8A5F-4E4B-9920-87A884B0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5770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Нужны заменители, роль в корзине и ограничения поставщика.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C1FBB0F-6D99-45F1-AB9F-BACF0D5B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Результат исследования: обоснованные приоритеты проверки и измеримые бизнес-гипотезы.</a:t>
            </a:r>
          </a:p>
        </p:txBody>
      </p:sp>
    </p:spTree>
    <p:extLst>
      <p:ext uri="{BB962C8B-B14F-4D97-AF65-F5344CB8AC3E}">
        <p14:creationId xmlns:p14="http://schemas.microsoft.com/office/powerpoint/2010/main" val="1206741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2026-09-26T19:28:12.6970000Z</dcterms:created>
  <dcterms:modified xsi:type="dcterms:W3CDTF">2026-09-26T19:28:12.6970000Z</dcterms:modified>
</coreProperties>
</file>